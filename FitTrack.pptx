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f54cc3-7ba4-e95a-c82a-0f686178d3c5}">
          <p14:sldIdLst>
            <p14:sldId id="256"/>
            <p14:sldId id="257"/>
            <p14:sldId id="258"/>
          </p14:sldIdLst>
        </p14:section>
        <p14:section name="Code walkthrough" id="{a643b559-983c-6f61-abcf-437dbc8148b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Wrap-up" id="{b9967740-db60-33ac-8fbe-2d8c8313ce1d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FitTrack is a single-file Java Swing desktop app: login, dashboard, workout plans, fitness tracking, progress and a dark mode toggle.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setup: colors, state, constructor (1/3). Source lines 1 to 21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setup: colors, state, constructor (2/3). Source lines 22 to 42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setup: colors, state, constructor (3/3). Source lines 44 to 60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screen (1/3). Source lines 62 to 82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screen (2/3). Source lines 83 to 102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screen (3/3). Source lines 104 to 123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dashboard and sidebar (1/3). Source lines 125 to 147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dashboard and sidebar (2/3). Source lines 148 to 169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dashboard and sidebar (3/3). Source lines 171 to 190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home (1/4). Source lines 192 to 210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home (2/4). Source lines 212 to 230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home (3/4). Source lines 232 to 251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home (4/4). Source lines 252 to 268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Workout plans (1/3). Source lines 270 to 286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Workout plans (2/3). Source lines 288 to 302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Workout plans (3/3). Source lines 304 to 317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Fitness tracking (1/3). Source lines 319 to 341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Fitness tracking (2/3). Source lines 342 to 364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Fitness tracking (3/3). Source lines 365 to 386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page (1/2). Source lines 388 to 405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page (2/2). Source lines 406 to 422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mode and entry point (1/3). Source lines 424 to 446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mode and entry point (2/3). Source lines 447 to 469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mode and entry point (3/3). Source lines 470 to 491 of FitTrack.java.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FitTrack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Java Swing fitness tracker: app overview and full source code walkthrough</a:t>
            </a:r>
            <a:endParaRPr lang="en-US" sz="2200" dirty="0"/>
          </a:p>
        </p:txBody>
      </p:sp>
      <p:sp>
        <p:nvSpPr>
          <p:cNvPr id="4" name="Logo circle"/>
          <p:cNvSpPr/>
          <p:nvPr/>
        </p:nvSpPr>
        <p:spPr>
          <a:xfrm>
            <a:off x="822960" y="10058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Logo text"/>
          <p:cNvSpPr txBox="1"/>
          <p:nvPr/>
        </p:nvSpPr>
        <p:spPr>
          <a:xfrm>
            <a:off x="82296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FT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What the app does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number 1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Card title 1"/>
          <p:cNvSpPr txBox="1"/>
          <p:nvPr/>
        </p:nvSpPr>
        <p:spPr>
          <a:xfrm>
            <a:off x="82296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Login</a:t>
            </a:r>
            <a:endParaRPr lang="en-US" sz="2200" dirty="0"/>
          </a:p>
        </p:txBody>
      </p:sp>
      <p:sp>
        <p:nvSpPr>
          <p:cNvPr id="7" name="Card text 1"/>
          <p:cNvSpPr txBox="1"/>
          <p:nvPr/>
        </p:nvSpPr>
        <p:spPr>
          <a:xfrm>
            <a:off x="82296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Enter your name to start. Empty names are rejected.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434340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46177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 number 2"/>
          <p:cNvSpPr txBox="1"/>
          <p:nvPr/>
        </p:nvSpPr>
        <p:spPr>
          <a:xfrm>
            <a:off x="46177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ard title 2"/>
          <p:cNvSpPr txBox="1"/>
          <p:nvPr/>
        </p:nvSpPr>
        <p:spPr>
          <a:xfrm>
            <a:off x="461772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Dashboard</a:t>
            </a:r>
            <a:endParaRPr lang="en-US" sz="2200" dirty="0"/>
          </a:p>
        </p:txBody>
      </p:sp>
      <p:sp>
        <p:nvSpPr>
          <p:cNvPr id="12" name="Card text 2"/>
          <p:cNvSpPr txBox="1"/>
          <p:nvPr/>
        </p:nvSpPr>
        <p:spPr>
          <a:xfrm>
            <a:off x="461772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Welcome message, three stat cards and today's goals.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813816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84124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number 3"/>
          <p:cNvSpPr txBox="1"/>
          <p:nvPr/>
        </p:nvSpPr>
        <p:spPr>
          <a:xfrm>
            <a:off x="8412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Card title 3"/>
          <p:cNvSpPr txBox="1"/>
          <p:nvPr/>
        </p:nvSpPr>
        <p:spPr>
          <a:xfrm>
            <a:off x="8412480" y="22860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Workout Plans</a:t>
            </a:r>
            <a:endParaRPr lang="en-US" sz="2200" dirty="0"/>
          </a:p>
        </p:txBody>
      </p:sp>
      <p:sp>
        <p:nvSpPr>
          <p:cNvPr id="17" name="Card text 3"/>
          <p:cNvSpPr txBox="1"/>
          <p:nvPr/>
        </p:nvSpPr>
        <p:spPr>
          <a:xfrm>
            <a:off x="8412480" y="27432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Pick a plan from the list and mark it complete.</a:t>
            </a:r>
            <a:endParaRPr lang="en-US" sz="1400" dirty="0"/>
          </a:p>
        </p:txBody>
      </p:sp>
      <p:sp>
        <p:nvSpPr>
          <p:cNvPr id="18" name="Card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 number 4"/>
          <p:cNvSpPr txBox="1"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Card title 4"/>
          <p:cNvSpPr txBox="1"/>
          <p:nvPr/>
        </p:nvSpPr>
        <p:spPr>
          <a:xfrm>
            <a:off x="822960" y="4663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Fitness Tracking</a:t>
            </a:r>
            <a:endParaRPr lang="en-US" sz="2200" dirty="0"/>
          </a:p>
        </p:txBody>
      </p:sp>
      <p:sp>
        <p:nvSpPr>
          <p:cNvPr id="22" name="Card text 4"/>
          <p:cNvSpPr txBox="1"/>
          <p:nvPr/>
        </p:nvSpPr>
        <p:spPr>
          <a:xfrm>
            <a:off x="82296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Save steps, calories and workouts with validation.</a:t>
            </a:r>
            <a:endParaRPr lang="en-US" sz="1400" dirty="0"/>
          </a:p>
        </p:txBody>
      </p:sp>
      <p:sp>
        <p:nvSpPr>
          <p:cNvPr id="23" name="Card 5"/>
          <p:cNvSpPr/>
          <p:nvPr/>
        </p:nvSpPr>
        <p:spPr>
          <a:xfrm>
            <a:off x="434340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Badge 5"/>
          <p:cNvSpPr/>
          <p:nvPr/>
        </p:nvSpPr>
        <p:spPr>
          <a:xfrm>
            <a:off x="461772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 number 5"/>
          <p:cNvSpPr txBox="1"/>
          <p:nvPr/>
        </p:nvSpPr>
        <p:spPr>
          <a:xfrm>
            <a:off x="46177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Card title 5"/>
          <p:cNvSpPr txBox="1"/>
          <p:nvPr/>
        </p:nvSpPr>
        <p:spPr>
          <a:xfrm>
            <a:off x="4617720" y="4663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Progress</a:t>
            </a:r>
            <a:endParaRPr lang="en-US" sz="2200" dirty="0"/>
          </a:p>
        </p:txBody>
      </p:sp>
      <p:sp>
        <p:nvSpPr>
          <p:cNvPr id="27" name="Card text 5"/>
          <p:cNvSpPr txBox="1"/>
          <p:nvPr/>
        </p:nvSpPr>
        <p:spPr>
          <a:xfrm>
            <a:off x="461772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Step progress bar toward 10,000, plus totals.</a:t>
            </a:r>
            <a:endParaRPr lang="en-US" sz="1400" dirty="0"/>
          </a:p>
        </p:txBody>
      </p:sp>
      <p:sp>
        <p:nvSpPr>
          <p:cNvPr id="28" name="Card 6"/>
          <p:cNvSpPr/>
          <p:nvPr/>
        </p:nvSpPr>
        <p:spPr>
          <a:xfrm>
            <a:off x="813816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Badge 6"/>
          <p:cNvSpPr/>
          <p:nvPr/>
        </p:nvSpPr>
        <p:spPr>
          <a:xfrm>
            <a:off x="8412480" y="4023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 number 6"/>
          <p:cNvSpPr txBox="1"/>
          <p:nvPr/>
        </p:nvSpPr>
        <p:spPr>
          <a:xfrm>
            <a:off x="841248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Card title 6"/>
          <p:cNvSpPr txBox="1"/>
          <p:nvPr/>
        </p:nvSpPr>
        <p:spPr>
          <a:xfrm>
            <a:off x="8412480" y="4663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Dark Mode</a:t>
            </a:r>
            <a:endParaRPr lang="en-US" sz="2200" dirty="0"/>
          </a:p>
        </p:txBody>
      </p:sp>
      <p:sp>
        <p:nvSpPr>
          <p:cNvPr id="32" name="Card text 6"/>
          <p:cNvSpPr txBox="1"/>
          <p:nvPr/>
        </p:nvSpPr>
        <p:spPr>
          <a:xfrm>
            <a:off x="841248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One-click theme toggle across every screen.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How the code is organised</a:t>
            </a:r>
            <a:endParaRPr lang="en-US" sz="3600" dirty="0"/>
          </a:p>
        </p:txBody>
      </p:sp>
      <p:sp>
        <p:nvSpPr>
          <p:cNvPr id="3" name="Login box"/>
          <p:cNvSpPr/>
          <p:nvPr/>
        </p:nvSpPr>
        <p:spPr>
          <a:xfrm>
            <a:off x="548640" y="1554480"/>
            <a:ext cx="30175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Login box title"/>
          <p:cNvSpPr txBox="1"/>
          <p:nvPr/>
        </p:nvSpPr>
        <p:spPr>
          <a:xfrm>
            <a:off x="731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showLogin()</a:t>
            </a:r>
            <a:endParaRPr lang="en-US" sz="1800" dirty="0"/>
          </a:p>
        </p:txBody>
      </p:sp>
      <p:sp>
        <p:nvSpPr>
          <p:cNvPr id="5" name="Login box text"/>
          <p:cNvSpPr txBox="1"/>
          <p:nvPr/>
        </p:nvSpPr>
        <p:spPr>
          <a:xfrm>
            <a:off x="731520" y="2103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Card with name field and Get Started button</a:t>
            </a:r>
            <a:endParaRPr lang="en-US" sz="1400" dirty="0"/>
          </a:p>
        </p:txBody>
      </p:sp>
      <p:sp>
        <p:nvSpPr>
          <p:cNvPr id="6" name="Dashboard box"/>
          <p:cNvSpPr/>
          <p:nvPr/>
        </p:nvSpPr>
        <p:spPr>
          <a:xfrm>
            <a:off x="4572000" y="1554480"/>
            <a:ext cx="30175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Dashboard box title"/>
          <p:cNvSpPr txBox="1"/>
          <p:nvPr/>
        </p:nvSpPr>
        <p:spPr>
          <a:xfrm>
            <a:off x="475488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showDashboard()</a:t>
            </a:r>
            <a:endParaRPr lang="en-US" sz="1800" dirty="0"/>
          </a:p>
        </p:txBody>
      </p:sp>
      <p:sp>
        <p:nvSpPr>
          <p:cNvPr id="8" name="Dashboard box text"/>
          <p:cNvSpPr txBox="1"/>
          <p:nvPr/>
        </p:nvSpPr>
        <p:spPr>
          <a:xfrm>
            <a:off x="4754880" y="2103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Header, sidebar menu and content panel</a:t>
            </a:r>
            <a:endParaRPr lang="en-US" sz="1400" dirty="0"/>
          </a:p>
        </p:txBody>
      </p:sp>
      <p:sp>
        <p:nvSpPr>
          <p:cNvPr id="9" name="Arrow login to dashboard"/>
          <p:cNvSpPr/>
          <p:nvPr/>
        </p:nvSpPr>
        <p:spPr>
          <a:xfrm>
            <a:off x="3566160" y="2331720"/>
            <a:ext cx="10058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Arrow label"/>
          <p:cNvSpPr txBox="1"/>
          <p:nvPr/>
        </p:nvSpPr>
        <p:spPr>
          <a:xfrm>
            <a:off x="356616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name entered</a:t>
            </a:r>
            <a:endParaRPr lang="en-US" sz="1200" dirty="0"/>
          </a:p>
        </p:txBody>
      </p:sp>
      <p:sp>
        <p:nvSpPr>
          <p:cNvPr id="11" name="Screen 1"/>
          <p:cNvSpPr/>
          <p:nvPr/>
        </p:nvSpPr>
        <p:spPr>
          <a:xfrm>
            <a:off x="8595360" y="1554480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creen 1 title"/>
          <p:cNvSpPr txBox="1"/>
          <p:nvPr/>
        </p:nvSpPr>
        <p:spPr>
          <a:xfrm>
            <a:off x="877824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showHome()</a:t>
            </a:r>
            <a:endParaRPr lang="en-US" sz="1600" dirty="0"/>
          </a:p>
        </p:txBody>
      </p:sp>
      <p:sp>
        <p:nvSpPr>
          <p:cNvPr id="13" name="Screen 1 text"/>
          <p:cNvSpPr txBox="1"/>
          <p:nvPr/>
        </p:nvSpPr>
        <p:spPr>
          <a:xfrm>
            <a:off x="8778240" y="2011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Stats and goals</a:t>
            </a:r>
            <a:endParaRPr lang="en-US" sz="1400" dirty="0"/>
          </a:p>
        </p:txBody>
      </p:sp>
      <p:sp>
        <p:nvSpPr>
          <p:cNvPr id="14" name="Screen 2"/>
          <p:cNvSpPr/>
          <p:nvPr/>
        </p:nvSpPr>
        <p:spPr>
          <a:xfrm>
            <a:off x="8595360" y="2578608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creen 2 title"/>
          <p:cNvSpPr txBox="1"/>
          <p:nvPr/>
        </p:nvSpPr>
        <p:spPr>
          <a:xfrm>
            <a:off x="8778240" y="2670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showWorkouts()</a:t>
            </a:r>
            <a:endParaRPr lang="en-US" sz="1600" dirty="0"/>
          </a:p>
        </p:txBody>
      </p:sp>
      <p:sp>
        <p:nvSpPr>
          <p:cNvPr id="16" name="Screen 2 text"/>
          <p:cNvSpPr txBox="1"/>
          <p:nvPr/>
        </p:nvSpPr>
        <p:spPr>
          <a:xfrm>
            <a:off x="8778240" y="3035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Plan list</a:t>
            </a:r>
            <a:endParaRPr lang="en-US" sz="1400" dirty="0"/>
          </a:p>
        </p:txBody>
      </p:sp>
      <p:sp>
        <p:nvSpPr>
          <p:cNvPr id="17" name="Screen 3"/>
          <p:cNvSpPr/>
          <p:nvPr/>
        </p:nvSpPr>
        <p:spPr>
          <a:xfrm>
            <a:off x="8595360" y="3602736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creen 3 title"/>
          <p:cNvSpPr txBox="1"/>
          <p:nvPr/>
        </p:nvSpPr>
        <p:spPr>
          <a:xfrm>
            <a:off x="8778240" y="36941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showTracking()</a:t>
            </a:r>
            <a:endParaRPr lang="en-US" sz="1600" dirty="0"/>
          </a:p>
        </p:txBody>
      </p:sp>
      <p:sp>
        <p:nvSpPr>
          <p:cNvPr id="19" name="Screen 3 text"/>
          <p:cNvSpPr txBox="1"/>
          <p:nvPr/>
        </p:nvSpPr>
        <p:spPr>
          <a:xfrm>
            <a:off x="8778240" y="40599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Data entry form</a:t>
            </a:r>
            <a:endParaRPr lang="en-US" sz="1400" dirty="0"/>
          </a:p>
        </p:txBody>
      </p:sp>
      <p:sp>
        <p:nvSpPr>
          <p:cNvPr id="20" name="Screen 4"/>
          <p:cNvSpPr/>
          <p:nvPr/>
        </p:nvSpPr>
        <p:spPr>
          <a:xfrm>
            <a:off x="8595360" y="4626864"/>
            <a:ext cx="301752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creen 4 title"/>
          <p:cNvSpPr txBox="1"/>
          <p:nvPr/>
        </p:nvSpPr>
        <p:spPr>
          <a:xfrm>
            <a:off x="8778240" y="4718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showProgress()</a:t>
            </a:r>
            <a:endParaRPr lang="en-US" sz="1600" dirty="0"/>
          </a:p>
        </p:txBody>
      </p:sp>
      <p:sp>
        <p:nvSpPr>
          <p:cNvPr id="22" name="Screen 4 text"/>
          <p:cNvSpPr txBox="1"/>
          <p:nvPr/>
        </p:nvSpPr>
        <p:spPr>
          <a:xfrm>
            <a:off x="8778240" y="50840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Progress bar</a:t>
            </a:r>
            <a:endParaRPr lang="en-US" sz="1400" dirty="0"/>
          </a:p>
        </p:txBody>
      </p:sp>
      <p:sp>
        <p:nvSpPr>
          <p:cNvPr id="23" name="Arrow dashboard to screens"/>
          <p:cNvSpPr/>
          <p:nvPr/>
        </p:nvSpPr>
        <p:spPr>
          <a:xfrm>
            <a:off x="7589520" y="2331720"/>
            <a:ext cx="10058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Arrow label 2"/>
          <p:cNvSpPr txBox="1"/>
          <p:nvPr/>
        </p:nvSpPr>
        <p:spPr>
          <a:xfrm>
            <a:off x="758952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sidebar</a:t>
            </a:r>
            <a:endParaRPr lang="en-US" sz="1200" dirty="0"/>
          </a:p>
        </p:txBody>
      </p:sp>
      <p:sp>
        <p:nvSpPr>
          <p:cNvPr id="25" name="State box"/>
          <p:cNvSpPr/>
          <p:nvPr/>
        </p:nvSpPr>
        <p:spPr>
          <a:xfrm>
            <a:off x="548640" y="3657600"/>
            <a:ext cx="7040880" cy="22860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State box title"/>
          <p:cNvSpPr txBox="1"/>
          <p:nvPr/>
        </p:nvSpPr>
        <p:spPr>
          <a:xfrm>
            <a:off x="731520" y="37947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Shared state</a:t>
            </a:r>
            <a:endParaRPr lang="en-US" sz="1800" dirty="0"/>
          </a:p>
        </p:txBody>
      </p:sp>
      <p:sp>
        <p:nvSpPr>
          <p:cNvPr id="27" name="State bullets"/>
          <p:cNvSpPr txBox="1"/>
          <p:nvPr/>
        </p:nvSpPr>
        <p:spPr>
          <a:xfrm>
            <a:off x="731520" y="42519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steps, calories, workouts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workoutPlans (ArrayList of 4 default plans)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userName and darkMode flag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applyTheme() recolors the active screen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Class setup: colors, state, constructor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javax.swing.*;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javax.swing.border.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java.awt.*;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java.util.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FitTrack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Brand colors from Tailwind configuration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brand50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"#ecfeff"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brand100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"#cffafe"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brand400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"#22d3ee"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brand500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"#06b6d4"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brand600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"#0891b2"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brand700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"#0e7490"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Accent colors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accent400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"#34d399"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accent500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"#10b981"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accent600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.decode(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"#059669"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1-21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Class setup: colors, state, constructor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dark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darkMode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mainPanel;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sidebar;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contentPanel;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nameField;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stepsField;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caloriesField;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workoutField;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welcomeLabel;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stepsLabel;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caloriesLabel;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workoutLabel;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steps =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calories =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workouts =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22-42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Class setup: colors, state, constructor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userName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workoutPlans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FitTrack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setTitle(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"FitTrack Application"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setSize(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setDefaultCloseOperation(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JFrame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EXIT_ON_CLOSE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setLocationRelativeTo(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workoutPlans.add(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"Morning Walking - 30 minutes"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workoutPlans.add(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"Push-ups - 3 sets"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workoutPlans.add(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"Squats - 3 sets"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workoutPlans.add(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"Cycling - 20 minutes"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showLogin();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44-60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Login screen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 SCREEN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showLogin()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getContentPane().removeAll();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GridBagLayout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panel.setBackground(brand50);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(card,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"FitTrack"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title.setForeground(brand700);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title.setAlignmentX(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CENTER_ALIGNMENT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subtitle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Personal Fitness Companion"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subtitle.setAlignmentX(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CENTER_ALIGNMENT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nameLabel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Your Name"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62-82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Login screen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nameLabel.setAlignmentX(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LEFT_ALIGNMENT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nameField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nameField.setMaximumSize(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loginButton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 Started"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loginButton.setBackground(brand500);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loginButton.setForeground(white);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loginButton.setFocusPainted(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loginButton.setAlignmentX(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CENTER_ALIGNMENT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loginButton.addActionListener(e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userName = nameField.getText().trim();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(userName.isEmpty())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enter your name!"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83-102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Login screen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showDashboard();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card.add(title);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card.add(subtitle);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card.add(nameLabel);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card.add(nameField);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card.add(loginButton);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panel.add(card);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add(panel);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revalidate();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repaint();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setVisible(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104-123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Main dashboard and sidebar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DASHBOARD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showDashboard()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getContentPane().removeAll();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mainPanel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mainPanel.setBackground(brand50);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Top header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header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header.setBackground(brand700);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logo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"FitTrack"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logo.setForeground(white);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logo.setFont(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themeButton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"Toggle Dark Mode"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themeButton.addActionListener(e -&gt; toggleDarkMode());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header.add(logo,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header.add(themeButton,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Sidebar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125-147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Main dashboard and sidebar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(sidebar,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sidebar.setBackground(brand100);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sidebar.setPreferredSize(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addMenuButton(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"Dashboard"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showHome());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addMenuButton(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"Workout Plans"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showWorkouts());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addMenuButton(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"Fitness Tracking"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showTracking());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addMenuButton(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"Progress"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showProgress());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addMenuButton(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"Logout"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() -&gt; showLogin());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content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contentPanel.setBackground(brand50);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mainPanel.add(header,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mainPanel.add(sidebar,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mainPanel.add(contentPanel,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add(mainPanel);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148-169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Main dashboard and sidebar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showHome();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revalidate();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repaint();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SIDEBAR BUTTONS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addMenuButton(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text,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button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button.setMaximumSize(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button.setAlignmentX(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CENTER_ALIGNMENT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button.setForeground(brand700);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button.setFocusPainted(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button.addActionListener(e -&gt; action.run());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sidebar.add(button);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sidebar.add(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171-190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Dashboard home (1/4)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DASHBOARD HOME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showHome()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top.setOpaque(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welcomeLabel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"Welcome, 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userName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welcomeLabel.setFont(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"Track your fitness and achieve your goals."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top.add(welcomeLabel);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top.add(description);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192-210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Dashboard home (2/4)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stats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stats.setOpaque(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stepsLabel = createStatCard(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"Daily Steps"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steps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caloriesLabel = createStatCard(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"Calories Burned"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calories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workoutLabel = createStatCard(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"Workouts Completed"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workouts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stats.add(stepsLabel.getParent());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stats.add(caloriesLabel.getParent());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stats.add(workoutLabel.getParent());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center.setOpaque(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center.add(stats,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goal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(goal,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212-230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Dashboard home (3/4)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goalTitle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"Today's Fitness Goals"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goalTitle.setFont(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goal.add(goalTitle);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"Daily Steps Goal: 10,000 steps"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goal.add(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"Stay hydrated and exercise daily!"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center.add(goal,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contentPanel.add(top,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contentPanel.add(center,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refreshScreen();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createStatCard(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232-251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Dashboard home (4/4)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(card,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heading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(title);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heading.setFont(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number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(value);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number.setFont(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number.setForeground(brand600);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card.add(heading);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card.add(number);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number;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252-268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Workout plans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WORKOUT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showWorkouts()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"Workout Plans"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DefaultListModel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model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DefaultListModel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plan : workoutPlans)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model.addElement(plan);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JList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list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JList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&lt;&gt;(model);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list.setSelectionMode(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ListSelectionModel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SINGLE_SELECTION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270-286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Workout plans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JScrollPane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scrollPane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JScrollPane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(list);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completeButton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 Workout"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completeButton.setBackground(accent500);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completeButton.setForeground(white);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completeButton.addActionListener(e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(list.getSelectedIndex() == -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select a workout!"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workouts++;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288-302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Workout plans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"Workout completed successfully!"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showWorkouts();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contentPanel.add(title,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contentPanel.add(scrollPane,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contentPanel.add(completeButton,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refreshScreen();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304-317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Fitness tracking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FITNESS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showTracking()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"Fitness Tracking"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stepsField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caloriesField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workoutField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JTextField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"Daily Steps:"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form.add(stepsField);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"Calories Burned:"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form.add(caloriesField);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"Workouts Completed:"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319-341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Fitness tracking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form.add(workoutField);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saveButton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"Save Fitness Data"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saveButton.setBackground(brand500);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saveButton.setForeground(white);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form.add(saveButton);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saveButton.addActionListener(e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newSteps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.parseInt(stepsField.getText());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newCalories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.parseInt(caloriesField.getText());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newWorkouts =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.parseInt(workoutField.getText());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(newSteps &lt;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newCalories &lt;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newWorkouts &lt;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"Values cannot be negative!"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steps = newSteps;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342-364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Fitness tracking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calories = newCalories;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workouts = newWorkouts;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"Fitness data saved successfully!"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showTracking();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NumberFormatException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JOptionPane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.showMessageDialog(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enter valid whole numbers!"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contentPanel.add(title,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contentPanel.add(form,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refreshScreen();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365-386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Progress page (1/2)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PROGRESS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showProgress()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contentPanel.removeAll();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Fitness Progress"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title.setFont(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"Inter"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BOLD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progressPanel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progressPanel.setLayout(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(progressPanel,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Y_AXIS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progressPanel.setBackground(white);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progressPanel.setBorder(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EmptyBorder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"Daily Steps: 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steps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/ 10000"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JProgressBar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stepBar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JProgressBar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stepBar.setValue(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.min(steps,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388-405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Progress page (2/2)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stepBar.setStringPainted(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stepBar.setString(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.min(steps,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/ 10000 steps"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progressPanel.add(stepBar);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"Calories Burned: 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calories));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.createVerticalStrut(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progressPanel.add(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"Completed Workouts: "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workouts));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contentPanel.add(title,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contentPanel.add(progressPanel,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BorderLayout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refreshScreen();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406-422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Dark mode and entry point (1/3)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DARK MODE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toggleDarkMode()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darkMode = !darkMode;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applyTheme();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refreshScreen();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applyTheme()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background = darkMode ? dark : brand50;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foreground = darkMode ? white : brand700;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(mainPanel !=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mainPanel.setBackground(background);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(sidebar !=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sidebar.setBackground(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darkMode ?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brand100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(contentPanel !=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contentPanel.setBackground(background);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424-446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Dark mode and entry point (2/3)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updateColors(contentPanel, background, foreground);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updateColors(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background,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foreground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component : container.getComponents())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(component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panel = 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JPanel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component;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(panel.getBackground().equals(white)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|| panel.getBackground().equals(brand50))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panel.setBackground(background);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updateColors(panel, background, foreground);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(component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JLabel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component.setForeground(foreground);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(component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instanceof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JButton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component.setForeground(foreground);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447-469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Dark mode and entry point (3/3)</a:t>
            </a:r>
            <a:endParaRPr lang="en-US" sz="3600" dirty="0"/>
          </a:p>
        </p:txBody>
      </p:sp>
      <p:sp>
        <p:nvSpPr>
          <p:cNvPr id="3" name="Code panel"/>
          <p:cNvSpPr/>
          <p:nvPr/>
        </p:nvSpPr>
        <p:spPr>
          <a:xfrm>
            <a:off x="548640" y="1188720"/>
            <a:ext cx="11091672" cy="5074920"/>
          </a:xfrm>
          <a:prstGeom prst="roundRect">
            <a:avLst>
              <a:gd name="adj" fmla="val 1441"/>
            </a:avLst>
          </a:prstGeom>
          <a:solidFill>
            <a:srgbClr val="090D1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731520" y="1280160"/>
            <a:ext cx="1069848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refreshScreen()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(contentPanel !=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contentPanel.revalidate();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contentPanel.repaint();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(mainPanel !=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mainPanel.revalidate();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mainPanel.repaint();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SwingUtilities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.invokeLater(()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FitTrack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 = 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FitTrack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app.setVisible(</a:t>
            </a:r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Line range caption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FitTrack.java, lines 470-491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FitTrack at a glance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64592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tat number 1"/>
          <p:cNvSpPr txBox="1"/>
          <p:nvPr/>
        </p:nvSpPr>
        <p:spPr>
          <a:xfrm>
            <a:off x="822960" y="2011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</a:t>
            </a:r>
            <a:endParaRPr lang="en-US" sz="6600" dirty="0"/>
          </a:p>
        </p:txBody>
      </p:sp>
      <p:sp>
        <p:nvSpPr>
          <p:cNvPr id="5" name="Stat label 1"/>
          <p:cNvSpPr txBox="1"/>
          <p:nvPr/>
        </p:nvSpPr>
        <p:spPr>
          <a:xfrm>
            <a:off x="822960" y="3383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screens: login plus four dashboard views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4343400" y="164592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tat number 2"/>
          <p:cNvSpPr txBox="1"/>
          <p:nvPr/>
        </p:nvSpPr>
        <p:spPr>
          <a:xfrm>
            <a:off x="4617720" y="2011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10,000</a:t>
            </a:r>
            <a:endParaRPr lang="en-US" sz="6600" dirty="0"/>
          </a:p>
        </p:txBody>
      </p:sp>
      <p:sp>
        <p:nvSpPr>
          <p:cNvPr id="8" name="Stat label 2"/>
          <p:cNvSpPr txBox="1"/>
          <p:nvPr/>
        </p:nvSpPr>
        <p:spPr>
          <a:xfrm>
            <a:off x="4617720" y="3383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daily step goal tracked on the progress page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8138160" y="164592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at number 3"/>
          <p:cNvSpPr txBox="1"/>
          <p:nvPr/>
        </p:nvSpPr>
        <p:spPr>
          <a:xfrm>
            <a:off x="8412480" y="2011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2</a:t>
            </a:r>
            <a:endParaRPr lang="en-US" sz="6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412480" y="3383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themes: light and dark, toggled from the header</a:t>
            </a:r>
            <a:endParaRPr lang="en-US" sz="1600" dirty="0"/>
          </a:p>
        </p:txBody>
      </p:sp>
      <p:sp>
        <p:nvSpPr>
          <p:cNvPr id="12" name="Closing line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Built with Java Swing and AWT, in a single FitTrack.java file.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Track Dark">
  <a:themeElements>
    <a:clrScheme name="FitTrack Dark">
      <a:dk1>
        <a:srgbClr val="0F172A"/>
      </a:dk1>
      <a:lt1>
        <a:srgbClr val="F8FAFC"/>
      </a:lt1>
      <a:dk2>
        <a:srgbClr val="1E293B"/>
      </a:dk2>
      <a:lt2>
        <a:srgbClr val="94A3B8"/>
      </a:lt2>
      <a:accent1>
        <a:srgbClr val="22D3EE"/>
      </a:accent1>
      <a:accent2>
        <a:srgbClr val="34D399"/>
      </a:accent2>
      <a:accent3>
        <a:srgbClr val="0891B2"/>
      </a:accent3>
      <a:accent4>
        <a:srgbClr val="10B981"/>
      </a:accent4>
      <a:accent5>
        <a:srgbClr val="38BDF8"/>
      </a:accent5>
      <a:accent6>
        <a:srgbClr val="334155"/>
      </a:accent6>
      <a:hlink>
        <a:srgbClr val="22D3EE"/>
      </a:hlink>
      <a:folHlink>
        <a:srgbClr val="94A3B8"/>
      </a:folHlink>
    </a:clrScheme>
    <a:fontScheme name="FitTrack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FitTrack - Java Swing Source Code</dc:title>
  <dc:subject>PptxGenJS Presentation</dc:subject>
  <dc:creator>PptxGenJS</dc:creator>
  <cp:lastModifiedBy>PptxGenJS</cp:lastModifiedBy>
  <cp:revision>1</cp:revision>
  <dcterms:created xsi:type="dcterms:W3CDTF">2026-10-15T17:32:55Z</dcterms:created>
  <dcterms:modified xsi:type="dcterms:W3CDTF">2026-10-15T17:32:55Z</dcterms:modified>
</cp:coreProperties>
</file>